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_LIGHT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40" kern="0" dirty="0">
                <a:solidFill>
                  <a:srgbClr val="470B24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KARLA RODRÍGUEZ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1201400" y="1645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470B24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1173968" y="64922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470B24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KR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B6B78"/>
                </a:solidFill>
                <a:latin typeface="Clear Sans"/>
                <a:ea typeface="Clear Sans"/>
                <a:cs typeface="Clear Sans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_DARK">
    <p:bg>
      <p:bgPr>
        <a:solidFill>
          <a:srgbClr val="470B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40" kern="0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KARLA RODRÍGUEZ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1201400" y="1645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1173968" y="64922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FFFAF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KR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C4D3F7"/>
                </a:solidFill>
                <a:latin typeface="Clear Sans"/>
                <a:ea typeface="Clear Sans"/>
                <a:cs typeface="Clear Sans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B6B78"/>
                </a:solidFill>
                <a:latin typeface="Clear Sans"/>
                <a:ea typeface="Clear Sans"/>
                <a:cs typeface="Clear Sans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06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0615"/>
          </a:solidFill>
          <a:ln w="12700">
            <a:solidFill>
              <a:srgbClr val="2A061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92440" y="0"/>
            <a:ext cx="4096512" cy="6858000"/>
          </a:xfrm>
          <a:prstGeom prst="rect">
            <a:avLst/>
          </a:prstGeom>
          <a:solidFill>
            <a:srgbClr val="470B24"/>
          </a:solidFill>
          <a:ln w="12700">
            <a:solidFill>
              <a:srgbClr val="470B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440000">
            <a:off x="6949440" y="-640080"/>
            <a:ext cx="4754880" cy="7040880"/>
          </a:xfrm>
          <a:prstGeom prst="arc">
            <a:avLst/>
          </a:prstGeom>
          <a:solidFill>
            <a:srgbClr val="470B24">
              <a:alpha val="0"/>
            </a:srgbClr>
          </a:solidFill>
          <a:ln w="12700">
            <a:solidFill>
              <a:srgbClr val="C4D3F7">
                <a:alpha val="2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50292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C4D3F7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USIL × GLOBAL LEADERS CLUB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" y="1234440"/>
            <a:ext cx="7178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90000"/>
              </a:lnSpc>
              <a:buNone/>
            </a:pPr>
            <a:r>
              <a:rPr lang="en-US" sz="3400" dirty="0">
                <a:solidFill>
                  <a:srgbClr val="FFFAF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¿Puedo construir una carrera</a:t>
            </a:r>
            <a:endParaRPr lang="en-US" sz="3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3400" dirty="0">
                <a:solidFill>
                  <a:srgbClr val="FFFAF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en la industria de </a:t>
            </a:r>
            <a:endParaRPr lang="en-US" sz="3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3400" i="1" dirty="0">
                <a:solidFill>
                  <a:srgbClr val="C4D3F7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creación de contenido?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713232" y="3703320"/>
            <a:ext cx="5303520" cy="0"/>
          </a:xfrm>
          <a:prstGeom prst="line">
            <a:avLst/>
          </a:prstGeom>
          <a:noFill/>
          <a:ln w="15240">
            <a:solidFill>
              <a:srgbClr val="F473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950208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Qué oportunidades profesionales existen detrás del contenido.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4919472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Karla Rodríguez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Directora Estratégica de Creadores de Contenido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13232" y="57424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C4D3F7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16 OCT 2026 · 4:00 PM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32520" y="1965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i="1" dirty="0">
                <a:solidFill>
                  <a:srgbClr val="FFFAF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KR</a:t>
            </a:r>
            <a:endParaRPr lang="en-US" sz="7200" dirty="0"/>
          </a:p>
        </p:txBody>
      </p:sp>
      <p:sp>
        <p:nvSpPr>
          <p:cNvPr id="12" name="Shape 10"/>
          <p:cNvSpPr/>
          <p:nvPr/>
        </p:nvSpPr>
        <p:spPr>
          <a:xfrm>
            <a:off x="8549640" y="1691640"/>
            <a:ext cx="2468880" cy="2423160"/>
          </a:xfrm>
          <a:prstGeom prst="ellipse">
            <a:avLst/>
          </a:prstGeom>
          <a:solidFill>
            <a:srgbClr val="470B24">
              <a:alpha val="0"/>
            </a:srgbClr>
          </a:solidFill>
          <a:ln w="13970">
            <a:solidFill>
              <a:srgbClr val="FFFAF5">
                <a:alpha val="8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58200" y="1600200"/>
            <a:ext cx="2651760" cy="2606040"/>
          </a:xfrm>
          <a:prstGeom prst="ellipse">
            <a:avLst/>
          </a:prstGeom>
          <a:solidFill>
            <a:srgbClr val="470B24">
              <a:alpha val="0"/>
            </a:srgbClr>
          </a:solidFill>
          <a:ln w="10160">
            <a:solidFill>
              <a:srgbClr val="C4D3F7">
                <a:alpha val="5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8686800" y="-960120"/>
            <a:ext cx="4114800" cy="4114800"/>
          </a:xfrm>
          <a:prstGeom prst="arc">
            <a:avLst/>
          </a:prstGeom>
          <a:solidFill>
            <a:srgbClr val="FFFAF5">
              <a:alpha val="0"/>
            </a:srgbClr>
          </a:solidFill>
          <a:ln w="11430">
            <a:solidFill>
              <a:srgbClr val="470B24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2600000">
            <a:off x="-914400" y="4389120"/>
            <a:ext cx="3749040" cy="3749040"/>
          </a:xfrm>
          <a:prstGeom prst="arc">
            <a:avLst/>
          </a:prstGeom>
          <a:solidFill>
            <a:srgbClr val="FFFAF5">
              <a:alpha val="0"/>
            </a:srgbClr>
          </a:solidFill>
          <a:ln w="11430">
            <a:solidFill>
              <a:srgbClr val="C4D3F7">
                <a:alpha val="12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5943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01 · QUIÉN ESTÁ HABLANDO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94360" y="9601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90000"/>
              </a:lnSpc>
              <a:buNone/>
            </a:pPr>
            <a:r>
              <a:rPr lang="en-US" sz="3100" dirty="0">
                <a:solidFill>
                  <a:srgbClr val="3A1021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Yo tampoco estudié </a:t>
            </a:r>
            <a:pPr indent="0" marL="0">
              <a:lnSpc>
                <a:spcPct val="90000"/>
              </a:lnSpc>
              <a:buNone/>
            </a:pPr>
            <a:r>
              <a:rPr lang="en-US" sz="3100" i="1" dirty="0">
                <a:solidFill>
                  <a:srgbClr val="F47358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Creator Economy.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6217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Usé herramientas de gestión para construir una carrera dentro de una industria que estaba naciendo.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4754880" cy="2468880"/>
          </a:xfrm>
          <a:prstGeom prst="roundRect">
            <a:avLst>
              <a:gd name="adj" fmla="val 5926"/>
            </a:avLst>
          </a:prstGeom>
          <a:solidFill>
            <a:srgbClr val="470B24"/>
          </a:solidFill>
          <a:ln w="12700">
            <a:solidFill>
              <a:srgbClr val="470B24">
                <a:alpha val="65000"/>
              </a:srgbClr>
            </a:solidFill>
            <a:prstDash val="solid"/>
          </a:ln>
          <a:effectLst>
            <a:outerShdw sx="100000" sy="100000" kx="0" ky="0" algn="bl" rotWithShape="0" blurRad="31750" dist="15240" dir="27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3101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C4D3F7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KARLA RODRÍGUEZ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3621024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FFFAF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Directora Estratégica</a:t>
            </a:r>
            <a:endParaRPr lang="en-US" sz="2500" dirty="0"/>
          </a:p>
          <a:p>
            <a:pPr indent="0" marL="0">
              <a:buNone/>
            </a:pPr>
            <a:r>
              <a:rPr lang="en-US" sz="2500" dirty="0">
                <a:solidFill>
                  <a:srgbClr val="FFFAF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de Creadores de Contenido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914400" y="4617720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Gestión Empresarial · PUCP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Experiencia en corporativo, tecnología, operaciones y negocios digitales.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+8 años trabajando detrás de creadores y marcas personales.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897880" y="2880360"/>
            <a:ext cx="2377440" cy="1078992"/>
          </a:xfrm>
          <a:prstGeom prst="roundRect">
            <a:avLst>
              <a:gd name="adj" fmla="val 13559"/>
            </a:avLst>
          </a:prstGeom>
          <a:solidFill>
            <a:srgbClr val="F9E7E4"/>
          </a:solidFill>
          <a:ln w="12700">
            <a:solidFill>
              <a:srgbClr val="F47358">
                <a:alpha val="5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62472" y="304495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ESTRATEGIA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062472" y="336499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decidir qué construir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641080" y="2880360"/>
            <a:ext cx="2377440" cy="1078992"/>
          </a:xfrm>
          <a:prstGeom prst="roundRect">
            <a:avLst>
              <a:gd name="adj" fmla="val 13559"/>
            </a:avLst>
          </a:prstGeom>
          <a:solidFill>
            <a:srgbClr val="FFFAF5"/>
          </a:solidFill>
          <a:ln w="12700">
            <a:solidFill>
              <a:srgbClr val="470B24">
                <a:alpha val="5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05672" y="304495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GESTIÓN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805672" y="336499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hacer que funcione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897880" y="4251960"/>
            <a:ext cx="2377440" cy="1078992"/>
          </a:xfrm>
          <a:prstGeom prst="roundRect">
            <a:avLst>
              <a:gd name="adj" fmla="val 13559"/>
            </a:avLst>
          </a:prstGeom>
          <a:solidFill>
            <a:srgbClr val="FFFAF5"/>
          </a:solidFill>
          <a:ln w="12700">
            <a:solidFill>
              <a:srgbClr val="470B24">
                <a:alpha val="55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62472" y="441655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NEGOCIO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62472" y="473659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capturar valor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641080" y="4251960"/>
            <a:ext cx="2377440" cy="1078992"/>
          </a:xfrm>
          <a:prstGeom prst="roundRect">
            <a:avLst>
              <a:gd name="adj" fmla="val 13559"/>
            </a:avLst>
          </a:prstGeom>
          <a:solidFill>
            <a:srgbClr val="FFFAF5"/>
          </a:solidFill>
          <a:ln w="12700">
            <a:solidFill>
              <a:srgbClr val="470B24">
                <a:alpha val="5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05672" y="441655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LECTURA HUMANA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805672" y="473659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proteger la esencia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897880" y="5760720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470B24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Mi trabajo no es hacer que un creador publique más. Es construir la estructura que necesita para crecer.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B6B78"/>
                </a:solidFill>
                <a:latin typeface="Clear Sans"/>
                <a:ea typeface="Clear Sans"/>
                <a:cs typeface="Clear Sans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8686800" y="-960120"/>
            <a:ext cx="4114800" cy="4114800"/>
          </a:xfrm>
          <a:prstGeom prst="arc">
            <a:avLst/>
          </a:prstGeom>
          <a:solidFill>
            <a:srgbClr val="470B24">
              <a:alpha val="0"/>
            </a:srgbClr>
          </a:solidFill>
          <a:ln w="11430">
            <a:solidFill>
              <a:srgbClr val="C4D3F7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2600000">
            <a:off x="-914400" y="4389120"/>
            <a:ext cx="3749040" cy="3749040"/>
          </a:xfrm>
          <a:prstGeom prst="arc">
            <a:avLst/>
          </a:prstGeom>
          <a:solidFill>
            <a:srgbClr val="470B24">
              <a:alpha val="0"/>
            </a:srgbClr>
          </a:solidFill>
          <a:ln w="11430">
            <a:solidFill>
              <a:srgbClr val="F47358">
                <a:alpha val="12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5943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C4D3F7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02 · UNA MEJOR PREGUNTA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94360" y="960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90000"/>
              </a:lnSpc>
              <a:buNone/>
            </a:pPr>
            <a:r>
              <a:rPr lang="en-US" sz="3100" dirty="0">
                <a:solidFill>
                  <a:srgbClr val="FFFAF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Tu carrera te da </a:t>
            </a:r>
            <a:pPr indent="0" marL="0">
              <a:lnSpc>
                <a:spcPct val="90000"/>
              </a:lnSpc>
              <a:buNone/>
            </a:pPr>
            <a:r>
              <a:rPr lang="en-US" sz="3100" i="1" dirty="0">
                <a:solidFill>
                  <a:srgbClr val="C4D3F7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herramientas.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No siempre te dice dónde vas a terminar aplicándolas.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926080"/>
            <a:ext cx="4892040" cy="2011680"/>
          </a:xfrm>
          <a:prstGeom prst="roundRect">
            <a:avLst>
              <a:gd name="adj" fmla="val 7273"/>
            </a:avLst>
          </a:prstGeom>
          <a:solidFill>
            <a:srgbClr val="2A0615"/>
          </a:solidFill>
          <a:ln w="12700">
            <a:solidFill>
              <a:srgbClr val="C4D3F7">
                <a:alpha val="3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273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C4D3F7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La pregunta tradicional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60120" y="370332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AF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¿Qué cargo quiero?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446520" y="2926080"/>
            <a:ext cx="4892040" cy="2011680"/>
          </a:xfrm>
          <a:prstGeom prst="roundRect">
            <a:avLst>
              <a:gd name="adj" fmla="val 7273"/>
            </a:avLst>
          </a:prstGeom>
          <a:solidFill>
            <a:srgbClr val="FFFAF5"/>
          </a:solidFill>
          <a:ln w="12700">
            <a:solidFill>
              <a:srgbClr val="F47358">
                <a:alpha val="75000"/>
              </a:srgbClr>
            </a:solidFill>
            <a:prstDash val="solid"/>
          </a:ln>
          <a:effectLst>
            <a:outerShdw sx="100000" sy="100000" kx="0" ky="0" algn="bl" rotWithShape="0" blurRad="403225000" dist="193548000" dir="162000000000">
              <a:srgbClr val="000000">
                <a:alpha val="160000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720840" y="32735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La pregunta que abre posibilidades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720840" y="3639312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470B24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¿Qué problemas disfruto resolver?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6720840" y="461772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Entender personas · vender · ordenar · conectar · comunicar · convertir ideas en proyectos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C4D3F7"/>
                </a:solidFill>
                <a:latin typeface="Clear Sans"/>
                <a:ea typeface="Clear Sans"/>
                <a:cs typeface="Clear Sans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8686800" y="-960120"/>
            <a:ext cx="4114800" cy="4114800"/>
          </a:xfrm>
          <a:prstGeom prst="arc">
            <a:avLst/>
          </a:prstGeom>
          <a:solidFill>
            <a:srgbClr val="FFFAF5">
              <a:alpha val="0"/>
            </a:srgbClr>
          </a:solidFill>
          <a:ln w="11430">
            <a:solidFill>
              <a:srgbClr val="470B24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2600000">
            <a:off x="-914400" y="4389120"/>
            <a:ext cx="3749040" cy="3749040"/>
          </a:xfrm>
          <a:prstGeom prst="arc">
            <a:avLst/>
          </a:prstGeom>
          <a:solidFill>
            <a:srgbClr val="FFFAF5">
              <a:alpha val="0"/>
            </a:srgbClr>
          </a:solidFill>
          <a:ln w="11430">
            <a:solidFill>
              <a:srgbClr val="C4D3F7">
                <a:alpha val="12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5943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03 · LA OPORTUNIDAD YA EXISTE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94360" y="960120"/>
            <a:ext cx="6858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90000"/>
              </a:lnSpc>
              <a:buNone/>
            </a:pPr>
            <a:r>
              <a:rPr lang="en-US" sz="3100" dirty="0">
                <a:solidFill>
                  <a:srgbClr val="3A1021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Esto ya es una </a:t>
            </a:r>
            <a:pPr indent="0" marL="0">
              <a:lnSpc>
                <a:spcPct val="90000"/>
              </a:lnSpc>
              <a:buNone/>
            </a:pPr>
            <a:r>
              <a:rPr lang="en-US" sz="3100" i="1" dirty="0">
                <a:solidFill>
                  <a:srgbClr val="F47358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industria.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La atención, las marcas y el dinero ya se están moviendo hacia este ecosistema. Por eso aparecen nuevas funciones profesionales.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926080"/>
            <a:ext cx="5257800" cy="2331720"/>
          </a:xfrm>
          <a:prstGeom prst="roundRect">
            <a:avLst>
              <a:gd name="adj" fmla="val 6275"/>
            </a:avLst>
          </a:prstGeom>
          <a:solidFill>
            <a:srgbClr val="470B24"/>
          </a:solidFill>
          <a:ln w="12700">
            <a:solidFill>
              <a:srgbClr val="470B24">
                <a:alpha val="65000"/>
              </a:srgbClr>
            </a:solidFill>
            <a:prstDash val="solid"/>
          </a:ln>
          <a:effectLst>
            <a:outerShdw sx="100000" sy="100000" kx="0" ky="0" algn="bl" rotWithShape="0" blurRad="5120957500000" dist="2458059600000" dir="9720000000000000">
              <a:srgbClr val="000000">
                <a:alpha val="16000000000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60120" y="32461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C4D3F7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PERÚ · PUBLICIDAD 2025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60120" y="365760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47358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53%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960120" y="429768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de toda la inversión publicitaria ya fue digital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01568" y="365760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C4D3F7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45%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401568" y="429768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de la inversión digital fue Social Ads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63640" y="2926080"/>
            <a:ext cx="5212080" cy="2331720"/>
          </a:xfrm>
          <a:prstGeom prst="roundRect">
            <a:avLst>
              <a:gd name="adj" fmla="val 6275"/>
            </a:avLst>
          </a:prstGeom>
          <a:solidFill>
            <a:srgbClr val="FFFAF5"/>
          </a:solidFill>
          <a:ln w="12700">
            <a:solidFill>
              <a:srgbClr val="F47358">
                <a:alpha val="75000"/>
              </a:srgbClr>
            </a:solidFill>
            <a:prstDash val="solid"/>
          </a:ln>
          <a:effectLst>
            <a:outerShdw sx="100000" sy="100000" kx="0" ky="0" algn="bl" rotWithShape="0" blurRad="65036160250000000" dist="31217356920000000" dir="583200000000000000000">
              <a:srgbClr val="000000">
                <a:alpha val="1600000000000000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37960" y="324612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BRASIL · ECOSISTEMA YOUTUBE 2025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537960" y="365760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470B24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+R$6B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537960" y="42976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de contribución al PIB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961120" y="365760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857B4A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+150K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8961120" y="42976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empleos equivalentes a tiempo completo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31520" y="5605272"/>
            <a:ext cx="9784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35967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No significa que todos esos empleos sean “managers de creadores”. Sí demuestra que el ecosistema ya mueve economía, empresas y trabajo.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31520" y="6144768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8E778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Fuentes: IAB Perú + PwC (2026) · YouTube/Oxford Economics (2026)</a:t>
            </a:r>
            <a:endParaRPr lang="en-US" sz="7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B6B78"/>
                </a:solidFill>
                <a:latin typeface="Clear Sans"/>
                <a:ea typeface="Clear Sans"/>
                <a:cs typeface="Clear Sans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943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04 · AMPLIAR EL MAPA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94360" y="96012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90000"/>
              </a:lnSpc>
              <a:buNone/>
            </a:pPr>
            <a:r>
              <a:rPr lang="en-US" sz="3100" dirty="0">
                <a:solidFill>
                  <a:srgbClr val="3A1021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Trabajar en contenido no significa </a:t>
            </a:r>
            <a:pPr indent="0" marL="0">
              <a:lnSpc>
                <a:spcPct val="90000"/>
              </a:lnSpc>
              <a:buNone/>
            </a:pPr>
            <a:r>
              <a:rPr lang="en-US" sz="3100" i="1" dirty="0">
                <a:solidFill>
                  <a:srgbClr val="F47358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ser creador.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93852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La parte visible es solo una capa.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2788920"/>
            <a:ext cx="4983480" cy="2651760"/>
          </a:xfrm>
          <a:prstGeom prst="roundRect">
            <a:avLst>
              <a:gd name="adj" fmla="val 5517"/>
            </a:avLst>
          </a:prstGeom>
          <a:solidFill>
            <a:srgbClr val="F9E7E4"/>
          </a:solidFill>
          <a:ln w="12700">
            <a:solidFill>
              <a:srgbClr val="F47358">
                <a:alpha val="7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31272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FRENTE AL CONTENIDO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60120" y="35935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Cámara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398678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Edición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437997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Producción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60120" y="477316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Publicidad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400800" y="2788920"/>
            <a:ext cx="5074920" cy="2651760"/>
          </a:xfrm>
          <a:prstGeom prst="roundRect">
            <a:avLst>
              <a:gd name="adj" fmla="val 5517"/>
            </a:avLst>
          </a:prstGeom>
          <a:solidFill>
            <a:srgbClr val="470B24"/>
          </a:solidFill>
          <a:ln w="12700">
            <a:solidFill>
              <a:srgbClr val="470B24">
                <a:alpha val="65000"/>
              </a:srgbClr>
            </a:solidFill>
            <a:prstDash val="solid"/>
          </a:ln>
          <a:effectLst>
            <a:outerShdw sx="100000" sy="100000" kx="0" ky="0" algn="bl" rotWithShape="0" blurRad="825959235175000000000" dist="396460432884000000000" dir="3.4992e+25">
              <a:srgbClr val="000000">
                <a:alpha val="1.6e+24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675120" y="312724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C4D3F7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DETRÁS DEL CONTENIDO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675120" y="35935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Estrategia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75120" y="398678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Posicionamiento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675120" y="437997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Comunidad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675120" y="477316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Management &amp; operaciones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13232" y="580644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470B24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Cuando el creador crece, aparecen decisiones que ya no son solo creativas.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B6B78"/>
                </a:solidFill>
                <a:latin typeface="Clear Sans"/>
                <a:ea typeface="Clear Sans"/>
                <a:cs typeface="Clear Sans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8686800" y="-960120"/>
            <a:ext cx="4114800" cy="4114800"/>
          </a:xfrm>
          <a:prstGeom prst="arc">
            <a:avLst/>
          </a:prstGeom>
          <a:solidFill>
            <a:srgbClr val="470B24">
              <a:alpha val="0"/>
            </a:srgbClr>
          </a:solidFill>
          <a:ln w="11430">
            <a:solidFill>
              <a:srgbClr val="C4D3F7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2600000">
            <a:off x="-914400" y="4389120"/>
            <a:ext cx="3749040" cy="3749040"/>
          </a:xfrm>
          <a:prstGeom prst="arc">
            <a:avLst/>
          </a:prstGeom>
          <a:solidFill>
            <a:srgbClr val="470B24">
              <a:alpha val="0"/>
            </a:srgbClr>
          </a:solidFill>
          <a:ln w="11430">
            <a:solidFill>
              <a:srgbClr val="F47358">
                <a:alpha val="12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5943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C4D3F7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05 · LA SLIDE MADRE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94360" y="960120"/>
            <a:ext cx="6858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90000"/>
              </a:lnSpc>
              <a:buNone/>
            </a:pPr>
            <a:r>
              <a:rPr lang="en-US" sz="3100" dirty="0">
                <a:solidFill>
                  <a:srgbClr val="FFFAF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El sistema detrás del </a:t>
            </a:r>
            <a:pPr indent="0" marL="0">
              <a:lnSpc>
                <a:spcPct val="90000"/>
              </a:lnSpc>
              <a:buNone/>
            </a:pPr>
            <a:r>
              <a:rPr lang="en-US" sz="3100" i="1" dirty="0">
                <a:solidFill>
                  <a:srgbClr val="C4D3F7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talento.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Un creador no necesita solamente publicaciones. Necesita decisiones que se conecten.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2743200"/>
            <a:ext cx="2423160" cy="1024128"/>
          </a:xfrm>
          <a:prstGeom prst="roundRect">
            <a:avLst>
              <a:gd name="adj" fmla="val 14286"/>
            </a:avLst>
          </a:prstGeom>
          <a:solidFill>
            <a:srgbClr val="2A0615"/>
          </a:solidFill>
          <a:ln w="12700">
            <a:solidFill>
              <a:srgbClr val="C4D3F7">
                <a:alpha val="2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" y="287121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01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32104" y="3154680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¿Qué es?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74720" y="2743200"/>
            <a:ext cx="2423160" cy="1024128"/>
          </a:xfrm>
          <a:prstGeom prst="roundRect">
            <a:avLst>
              <a:gd name="adj" fmla="val 14286"/>
            </a:avLst>
          </a:prstGeom>
          <a:solidFill>
            <a:srgbClr val="2A0615"/>
          </a:solidFill>
          <a:ln w="12700">
            <a:solidFill>
              <a:srgbClr val="C4D3F7">
                <a:alpha val="2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21024" y="287121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02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621024" y="3154680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¿Qué comunica?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63640" y="2743200"/>
            <a:ext cx="2423160" cy="1024128"/>
          </a:xfrm>
          <a:prstGeom prst="roundRect">
            <a:avLst>
              <a:gd name="adj" fmla="val 14286"/>
            </a:avLst>
          </a:prstGeom>
          <a:solidFill>
            <a:srgbClr val="2A0615"/>
          </a:solidFill>
          <a:ln w="12700">
            <a:solidFill>
              <a:srgbClr val="C4D3F7">
                <a:alpha val="2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9944" y="287121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03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09944" y="3154680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¿Para quién?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52560" y="2743200"/>
            <a:ext cx="2423160" cy="1024128"/>
          </a:xfrm>
          <a:prstGeom prst="roundRect">
            <a:avLst>
              <a:gd name="adj" fmla="val 14286"/>
            </a:avLst>
          </a:prstGeom>
          <a:solidFill>
            <a:srgbClr val="2A0615"/>
          </a:solidFill>
          <a:ln w="12700">
            <a:solidFill>
              <a:srgbClr val="C4D3F7">
                <a:alpha val="25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98864" y="287121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04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9198864" y="3154680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¿Cómo crece?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85800" y="4160520"/>
            <a:ext cx="2423160" cy="1024128"/>
          </a:xfrm>
          <a:prstGeom prst="roundRect">
            <a:avLst>
              <a:gd name="adj" fmla="val 14286"/>
            </a:avLst>
          </a:prstGeom>
          <a:solidFill>
            <a:srgbClr val="2A0615"/>
          </a:solidFill>
          <a:ln w="12700">
            <a:solidFill>
              <a:srgbClr val="C4D3F7">
                <a:alpha val="25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104" y="428853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05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32104" y="4572000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¿Cómo crea comunidad?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474720" y="4160520"/>
            <a:ext cx="2423160" cy="1024128"/>
          </a:xfrm>
          <a:prstGeom prst="roundRect">
            <a:avLst>
              <a:gd name="adj" fmla="val 14286"/>
            </a:avLst>
          </a:prstGeom>
          <a:solidFill>
            <a:srgbClr val="2A0615"/>
          </a:solidFill>
          <a:ln w="12700">
            <a:solidFill>
              <a:srgbClr val="C4D3F7">
                <a:alpha val="2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21024" y="428853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06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621024" y="4572000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¿Qué oportunidades toma?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263640" y="4160520"/>
            <a:ext cx="2423160" cy="1024128"/>
          </a:xfrm>
          <a:prstGeom prst="roundRect">
            <a:avLst>
              <a:gd name="adj" fmla="val 14286"/>
            </a:avLst>
          </a:prstGeom>
          <a:solidFill>
            <a:srgbClr val="2A0615"/>
          </a:solidFill>
          <a:ln w="12700">
            <a:solidFill>
              <a:srgbClr val="C4D3F7">
                <a:alpha val="25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9944" y="428853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07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409944" y="4572000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¿Cómo convierte atención en negocio?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052560" y="4160520"/>
            <a:ext cx="2423160" cy="1024128"/>
          </a:xfrm>
          <a:prstGeom prst="roundRect">
            <a:avLst>
              <a:gd name="adj" fmla="val 14286"/>
            </a:avLst>
          </a:prstGeom>
          <a:solidFill>
            <a:srgbClr val="F47358"/>
          </a:solidFill>
          <a:ln w="12700">
            <a:solidFill>
              <a:srgbClr val="F4735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98864" y="428853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470B24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08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9198864" y="4572000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470B24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¿Cómo hace que todo funcione?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31520" y="580644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C4D3F7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A medida que esta cadena crece, también crece el espacio para profesionales detrás del creador.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C4D3F7"/>
                </a:solidFill>
                <a:latin typeface="Clear Sans"/>
                <a:ea typeface="Clear Sans"/>
                <a:cs typeface="Clear Sans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8686800" y="-960120"/>
            <a:ext cx="4114800" cy="4114800"/>
          </a:xfrm>
          <a:prstGeom prst="arc">
            <a:avLst/>
          </a:prstGeom>
          <a:solidFill>
            <a:srgbClr val="FFFAF5">
              <a:alpha val="0"/>
            </a:srgbClr>
          </a:solidFill>
          <a:ln w="11430">
            <a:solidFill>
              <a:srgbClr val="470B24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2600000">
            <a:off x="-914400" y="4389120"/>
            <a:ext cx="3749040" cy="3749040"/>
          </a:xfrm>
          <a:prstGeom prst="arc">
            <a:avLst/>
          </a:prstGeom>
          <a:solidFill>
            <a:srgbClr val="FFFAF5">
              <a:alpha val="0"/>
            </a:srgbClr>
          </a:solidFill>
          <a:ln w="11430">
            <a:solidFill>
              <a:srgbClr val="C4D3F7">
                <a:alpha val="12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5943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06 · ANTES DE PUBLICAR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94360" y="96012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90000"/>
              </a:lnSpc>
              <a:buNone/>
            </a:pPr>
            <a:r>
              <a:rPr lang="en-US" sz="3100" dirty="0">
                <a:solidFill>
                  <a:srgbClr val="3A1021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Primero: ¿qué es este creador </a:t>
            </a:r>
            <a:pPr indent="0" marL="0">
              <a:lnSpc>
                <a:spcPct val="90000"/>
              </a:lnSpc>
              <a:buNone/>
            </a:pPr>
            <a:r>
              <a:rPr lang="en-US" sz="3100" i="1" dirty="0">
                <a:solidFill>
                  <a:srgbClr val="F47358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para su audiencia?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40080" y="1975104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Dos personas pueden tener la misma cantidad de seguidores y necesitar estrategias completamente distintas.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1792" y="2971800"/>
            <a:ext cx="2029968" cy="1993392"/>
          </a:xfrm>
          <a:prstGeom prst="roundRect">
            <a:avLst>
              <a:gd name="adj" fmla="val 7339"/>
            </a:avLst>
          </a:prstGeom>
          <a:solidFill>
            <a:srgbClr val="F9E7E4"/>
          </a:solidFill>
          <a:ln w="12700">
            <a:solidFill>
              <a:srgbClr val="F47358">
                <a:alpha val="4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327355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ESTRATEGA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68096" y="3840480"/>
            <a:ext cx="1709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1021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ayuda a decidir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935224" y="2971800"/>
            <a:ext cx="2029968" cy="1993392"/>
          </a:xfrm>
          <a:prstGeom prst="roundRect">
            <a:avLst>
              <a:gd name="adj" fmla="val 7339"/>
            </a:avLst>
          </a:prstGeom>
          <a:solidFill>
            <a:srgbClr val="FFFAF5"/>
          </a:solidFill>
          <a:ln w="12700">
            <a:solidFill>
              <a:srgbClr val="470B24">
                <a:alpha val="4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81528" y="327355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470B24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DIRECTOR EDITORIAL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81528" y="3840480"/>
            <a:ext cx="1709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1021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elige conversaciones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248656" y="2971800"/>
            <a:ext cx="2029968" cy="1993392"/>
          </a:xfrm>
          <a:prstGeom prst="roundRect">
            <a:avLst>
              <a:gd name="adj" fmla="val 7339"/>
            </a:avLst>
          </a:prstGeom>
          <a:solidFill>
            <a:srgbClr val="F9E7E4"/>
          </a:solidFill>
          <a:ln w="12700">
            <a:solidFill>
              <a:srgbClr val="F47358">
                <a:alpha val="4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94960" y="327355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LOCUTOR / HOST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394960" y="3840480"/>
            <a:ext cx="1709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1021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conduce contextos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562088" y="2971800"/>
            <a:ext cx="2029968" cy="1993392"/>
          </a:xfrm>
          <a:prstGeom prst="roundRect">
            <a:avLst>
              <a:gd name="adj" fmla="val 7339"/>
            </a:avLst>
          </a:prstGeom>
          <a:solidFill>
            <a:srgbClr val="FFFAF5"/>
          </a:solidFill>
          <a:ln w="12700">
            <a:solidFill>
              <a:srgbClr val="470B24">
                <a:alpha val="45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08392" y="327355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470B24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EDUCADOR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08392" y="3840480"/>
            <a:ext cx="1709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1021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convierte saber en aprendizaje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875520" y="2971800"/>
            <a:ext cx="2029968" cy="1993392"/>
          </a:xfrm>
          <a:prstGeom prst="roundRect">
            <a:avLst>
              <a:gd name="adj" fmla="val 7339"/>
            </a:avLst>
          </a:prstGeom>
          <a:solidFill>
            <a:srgbClr val="F9E7E4"/>
          </a:solidFill>
          <a:ln w="12700">
            <a:solidFill>
              <a:srgbClr val="F47358">
                <a:alpha val="45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21824" y="327355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ENTRETENEDOR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021824" y="3840480"/>
            <a:ext cx="1709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1021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convierte atención en experiencia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85800" y="562356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470B24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El posicionamiento define qué contenido, formatos, aliados, productos y oportunidades tienen sentido.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B6B78"/>
                </a:solidFill>
                <a:latin typeface="Clear Sans"/>
                <a:ea typeface="Clear Sans"/>
                <a:cs typeface="Clear Sans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943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07 · DIRIGIR CONTENIDO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94360" y="960120"/>
            <a:ext cx="9966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90000"/>
              </a:lnSpc>
              <a:buNone/>
            </a:pPr>
            <a:r>
              <a:rPr lang="en-US" sz="3100" dirty="0">
                <a:solidFill>
                  <a:srgbClr val="3A1021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La estrategia no empieza con </a:t>
            </a:r>
            <a:pPr indent="0" marL="0">
              <a:lnSpc>
                <a:spcPct val="90000"/>
              </a:lnSpc>
              <a:buNone/>
            </a:pPr>
            <a:r>
              <a:rPr lang="en-US" sz="3100" i="1" dirty="0">
                <a:solidFill>
                  <a:srgbClr val="F47358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“¿qué publicamos hoy?”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Empieza preguntando qué queremos construir y qué función cumple cada pieza.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49808" y="2798064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47358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243584" y="2953512"/>
            <a:ext cx="457200" cy="0"/>
          </a:xfrm>
          <a:prstGeom prst="line">
            <a:avLst/>
          </a:prstGeom>
          <a:noFill/>
          <a:ln w="12700">
            <a:solidFill>
              <a:srgbClr val="F47358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0" y="278892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¿Qué lugar queremos ocupar?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49808" y="340156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47358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243584" y="3557016"/>
            <a:ext cx="457200" cy="0"/>
          </a:xfrm>
          <a:prstGeom prst="line">
            <a:avLst/>
          </a:prstGeom>
          <a:noFill/>
          <a:ln w="12700">
            <a:solidFill>
              <a:srgbClr val="F47358">
                <a:alpha val="7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339242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¿Qué debemos comunicar?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49808" y="400507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47358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03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243584" y="4160520"/>
            <a:ext cx="457200" cy="0"/>
          </a:xfrm>
          <a:prstGeom prst="line">
            <a:avLst/>
          </a:prstGeom>
          <a:noFill/>
          <a:ln w="12700">
            <a:solidFill>
              <a:srgbClr val="F47358">
                <a:alpha val="7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28800" y="399592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¿A quién?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49808" y="4608576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47358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04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243584" y="4764024"/>
            <a:ext cx="457200" cy="0"/>
          </a:xfrm>
          <a:prstGeom prst="line">
            <a:avLst/>
          </a:prstGeom>
          <a:noFill/>
          <a:ln w="12700">
            <a:solidFill>
              <a:srgbClr val="F47358">
                <a:alpha val="7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28800" y="459943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¿Cómo queremos crecer?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49808" y="521208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47358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05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243584" y="5367528"/>
            <a:ext cx="457200" cy="0"/>
          </a:xfrm>
          <a:prstGeom prst="line">
            <a:avLst/>
          </a:prstGeom>
          <a:noFill/>
          <a:ln w="12700">
            <a:solidFill>
              <a:srgbClr val="F47358">
                <a:alpha val="7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28800" y="520293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¿Qué debería provocar cada pieza?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675120" y="2788920"/>
            <a:ext cx="4480560" cy="2926080"/>
          </a:xfrm>
          <a:prstGeom prst="roundRect">
            <a:avLst>
              <a:gd name="adj" fmla="val 5000"/>
            </a:avLst>
          </a:prstGeom>
          <a:solidFill>
            <a:srgbClr val="470B24"/>
          </a:solidFill>
          <a:ln w="12700">
            <a:solidFill>
              <a:srgbClr val="470B24">
                <a:alpha val="65000"/>
              </a:srgbClr>
            </a:solidFill>
            <a:prstDash val="solid"/>
          </a:ln>
          <a:effectLst>
            <a:outerShdw sx="100000" sy="100000" kx="0" ky="0" algn="bl" rotWithShape="0" blurRad="1.0489682286722501e+25" dist="5.0350474976268e+24" dir="2.09952e+30">
              <a:srgbClr val="000000">
                <a:alpha val="1.6e+29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004304" y="315468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C4D3F7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UNA IDEA ≠ UNA FUNCIÓN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004304" y="3611880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Atención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Autoridad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Confianza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Conversación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Acción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869680" y="3657600"/>
            <a:ext cx="1874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El estratega decide qué idea sirve para qué dentro de algo más grande.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B6B78"/>
                </a:solidFill>
                <a:latin typeface="Clear Sans"/>
                <a:ea typeface="Clear Sans"/>
                <a:cs typeface="Clear Sans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8686800" y="-960120"/>
            <a:ext cx="4114800" cy="4114800"/>
          </a:xfrm>
          <a:prstGeom prst="arc">
            <a:avLst/>
          </a:prstGeom>
          <a:solidFill>
            <a:srgbClr val="470B24">
              <a:alpha val="0"/>
            </a:srgbClr>
          </a:solidFill>
          <a:ln w="11430">
            <a:solidFill>
              <a:srgbClr val="C4D3F7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2600000">
            <a:off x="-914400" y="4389120"/>
            <a:ext cx="3749040" cy="3749040"/>
          </a:xfrm>
          <a:prstGeom prst="arc">
            <a:avLst/>
          </a:prstGeom>
          <a:solidFill>
            <a:srgbClr val="470B24">
              <a:alpha val="0"/>
            </a:srgbClr>
          </a:solidFill>
          <a:ln w="11430">
            <a:solidFill>
              <a:srgbClr val="F47358">
                <a:alpha val="12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5943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C4D3F7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08 · COMUNIDAD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94360" y="96012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90000"/>
              </a:lnSpc>
              <a:buNone/>
            </a:pPr>
            <a:r>
              <a:rPr lang="en-US" sz="3100" dirty="0">
                <a:solidFill>
                  <a:srgbClr val="FFFAF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La comunicación no termina cuando </a:t>
            </a:r>
            <a:pPr indent="0" marL="0">
              <a:lnSpc>
                <a:spcPct val="90000"/>
              </a:lnSpc>
              <a:buNone/>
            </a:pPr>
            <a:r>
              <a:rPr lang="en-US" sz="3100" i="1" dirty="0">
                <a:solidFill>
                  <a:srgbClr val="C4D3F7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publicas.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Una audiencia mira. Una comunidad participa. Y cuando participa empieza a darte información.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77240" y="3200400"/>
            <a:ext cx="2743200" cy="1645920"/>
          </a:xfrm>
          <a:prstGeom prst="roundRect">
            <a:avLst>
              <a:gd name="adj" fmla="val 8889"/>
            </a:avLst>
          </a:prstGeom>
          <a:solidFill>
            <a:srgbClr val="2A0615"/>
          </a:solidFill>
          <a:ln w="12700">
            <a:solidFill>
              <a:srgbClr val="C4D3F7">
                <a:alpha val="2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354787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C4D3F7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AUDIENCIA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87552" y="391363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FFFAF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mira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297680" y="3200400"/>
            <a:ext cx="2743200" cy="1645920"/>
          </a:xfrm>
          <a:prstGeom prst="roundRect">
            <a:avLst>
              <a:gd name="adj" fmla="val 8889"/>
            </a:avLst>
          </a:prstGeom>
          <a:solidFill>
            <a:srgbClr val="F47358"/>
          </a:solidFill>
          <a:ln w="12700">
            <a:solidFill>
              <a:srgbClr val="F473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7992" y="354787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470B24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COMUNIDAD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07992" y="391363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70B24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participa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7818120" y="3200400"/>
            <a:ext cx="2743200" cy="1645920"/>
          </a:xfrm>
          <a:prstGeom prst="roundRect">
            <a:avLst>
              <a:gd name="adj" fmla="val 8889"/>
            </a:avLst>
          </a:prstGeom>
          <a:solidFill>
            <a:srgbClr val="2A0615"/>
          </a:solidFill>
          <a:ln w="12700">
            <a:solidFill>
              <a:srgbClr val="C4D3F7">
                <a:alpha val="2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28432" y="354787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C4D3F7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NEGOCIO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028432" y="391363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FFFAF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confía y actúa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3584448" y="4023360"/>
            <a:ext cx="576072" cy="0"/>
          </a:xfrm>
          <a:prstGeom prst="line">
            <a:avLst/>
          </a:prstGeom>
          <a:noFill/>
          <a:ln w="16510">
            <a:solidFill>
              <a:srgbClr val="F47358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104888" y="4023360"/>
            <a:ext cx="576072" cy="0"/>
          </a:xfrm>
          <a:prstGeom prst="line">
            <a:avLst/>
          </a:prstGeom>
          <a:noFill/>
          <a:ln w="16510">
            <a:solidFill>
              <a:srgbClr val="F47358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914400" y="5532120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C4D3F7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Escuchar → conversar → entender → conectar → activar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C4D3F7"/>
                </a:solidFill>
                <a:latin typeface="Clear Sans"/>
                <a:ea typeface="Clear Sans"/>
                <a:cs typeface="Clear Sans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8686800" y="-960120"/>
            <a:ext cx="4114800" cy="4114800"/>
          </a:xfrm>
          <a:prstGeom prst="arc">
            <a:avLst/>
          </a:prstGeom>
          <a:solidFill>
            <a:srgbClr val="FFFAF5">
              <a:alpha val="0"/>
            </a:srgbClr>
          </a:solidFill>
          <a:ln w="11430">
            <a:solidFill>
              <a:srgbClr val="470B24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2600000">
            <a:off x="-914400" y="4389120"/>
            <a:ext cx="3749040" cy="3749040"/>
          </a:xfrm>
          <a:prstGeom prst="arc">
            <a:avLst/>
          </a:prstGeom>
          <a:solidFill>
            <a:srgbClr val="FFFAF5">
              <a:alpha val="0"/>
            </a:srgbClr>
          </a:solidFill>
          <a:ln w="11430">
            <a:solidFill>
              <a:srgbClr val="C4D3F7">
                <a:alpha val="12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5943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09 · SINERGIAS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94360" y="96012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90000"/>
              </a:lnSpc>
              <a:buNone/>
            </a:pPr>
            <a:r>
              <a:rPr lang="en-US" sz="3100" dirty="0">
                <a:solidFill>
                  <a:srgbClr val="3A1021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Crecer también es saber </a:t>
            </a:r>
            <a:pPr indent="0" marL="0">
              <a:lnSpc>
                <a:spcPct val="90000"/>
              </a:lnSpc>
              <a:buNone/>
            </a:pPr>
            <a:r>
              <a:rPr lang="en-US" sz="3100" i="1" dirty="0">
                <a:solidFill>
                  <a:srgbClr val="F47358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con quién conectar.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La creatividad detrás del contenido también consiste en conectar activos.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98848" y="2761488"/>
            <a:ext cx="3108960" cy="1170432"/>
          </a:xfrm>
          <a:prstGeom prst="roundRect">
            <a:avLst>
              <a:gd name="adj" fmla="val 12500"/>
            </a:avLst>
          </a:prstGeom>
          <a:solidFill>
            <a:srgbClr val="470B24"/>
          </a:solidFill>
          <a:ln w="12700">
            <a:solidFill>
              <a:srgbClr val="470B24">
                <a:alpha val="65000"/>
              </a:srgbClr>
            </a:solidFill>
            <a:prstDash val="solid"/>
          </a:ln>
          <a:effectLst>
            <a:outerShdw sx="100000" sy="100000" kx="0" ky="0" algn="bl" rotWithShape="0" blurRad="1.3321896504137577e+29" dist="6.3945103219860365e+28" dir="1.259712e+35">
              <a:srgbClr val="000000">
                <a:alpha val="1.6e+34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00600" y="30540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C4D3F7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CREADOR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800600" y="3374136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FFAF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posición + audiencia + confianza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2743200"/>
            <a:ext cx="2743200" cy="1298448"/>
          </a:xfrm>
          <a:prstGeom prst="roundRect">
            <a:avLst>
              <a:gd name="adj" fmla="val 11268"/>
            </a:avLst>
          </a:prstGeom>
          <a:solidFill>
            <a:srgbClr val="FFFAF5"/>
          </a:solidFill>
          <a:ln w="12700">
            <a:solidFill>
              <a:srgbClr val="470B24">
                <a:alpha val="4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" y="2971800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MARCA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50392" y="333756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A1021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partnership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85800" y="4709160"/>
            <a:ext cx="2743200" cy="1298448"/>
          </a:xfrm>
          <a:prstGeom prst="roundRect">
            <a:avLst>
              <a:gd name="adj" fmla="val 11268"/>
            </a:avLst>
          </a:prstGeom>
          <a:solidFill>
            <a:srgbClr val="F9E7E4"/>
          </a:solidFill>
          <a:ln w="12700">
            <a:solidFill>
              <a:srgbClr val="F47358">
                <a:alpha val="4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0392" y="4937760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OTRO CREADOR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50392" y="53035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A1021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colaboración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366760" y="2743200"/>
            <a:ext cx="2743200" cy="1298448"/>
          </a:xfrm>
          <a:prstGeom prst="roundRect">
            <a:avLst>
              <a:gd name="adj" fmla="val 11268"/>
            </a:avLst>
          </a:prstGeom>
          <a:solidFill>
            <a:srgbClr val="FFFAF5"/>
          </a:solidFill>
          <a:ln w="12700">
            <a:solidFill>
              <a:srgbClr val="470B24">
                <a:alpha val="45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31352" y="2971800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EXPERTO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531352" y="333756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A1021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producto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8366760" y="4709160"/>
            <a:ext cx="2743200" cy="1298448"/>
          </a:xfrm>
          <a:prstGeom prst="roundRect">
            <a:avLst>
              <a:gd name="adj" fmla="val 11268"/>
            </a:avLst>
          </a:prstGeom>
          <a:solidFill>
            <a:srgbClr val="F9E7E4"/>
          </a:solidFill>
          <a:ln w="12700">
            <a:solidFill>
              <a:srgbClr val="F47358">
                <a:alpha val="45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31352" y="4937760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MEDIO / EVENTO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531352" y="53035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A1021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nueva audiencia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4434840" y="3337560"/>
            <a:ext cx="-914400" cy="0"/>
          </a:xfrm>
          <a:prstGeom prst="line">
            <a:avLst/>
          </a:prstGeom>
          <a:noFill/>
          <a:ln w="12700">
            <a:solidFill>
              <a:srgbClr val="F47358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434840" y="3657600"/>
            <a:ext cx="-914400" cy="1554480"/>
          </a:xfrm>
          <a:prstGeom prst="line">
            <a:avLst/>
          </a:prstGeom>
          <a:noFill/>
          <a:ln w="12700">
            <a:solidFill>
              <a:srgbClr val="F47358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662672" y="3337560"/>
            <a:ext cx="612648" cy="0"/>
          </a:xfrm>
          <a:prstGeom prst="line">
            <a:avLst/>
          </a:prstGeom>
          <a:noFill/>
          <a:ln w="12700">
            <a:solidFill>
              <a:srgbClr val="F47358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662672" y="3657600"/>
            <a:ext cx="612648" cy="1554480"/>
          </a:xfrm>
          <a:prstGeom prst="line">
            <a:avLst/>
          </a:prstGeom>
          <a:noFill/>
          <a:ln w="12700">
            <a:solidFill>
              <a:srgbClr val="F47358"/>
            </a:solidFill>
            <a:prstDash val="solid"/>
            <a:headEnd type="non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3337560" y="4919472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470B24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Ver combinaciones es una habilidad estratégica: alguien tiene que convertir “podría pasar” en un proyecto real.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B6B78"/>
                </a:solidFill>
                <a:latin typeface="Clear Sans"/>
                <a:ea typeface="Clear Sans"/>
                <a:cs typeface="Clear Sans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943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10 · EL TRABAJO INVISIBLE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94360" y="960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90000"/>
              </a:lnSpc>
              <a:buNone/>
            </a:pPr>
            <a:r>
              <a:rPr lang="en-US" sz="3100" dirty="0">
                <a:solidFill>
                  <a:srgbClr val="3A1021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Management &amp; </a:t>
            </a:r>
            <a:pPr indent="0" marL="0">
              <a:lnSpc>
                <a:spcPct val="90000"/>
              </a:lnSpc>
              <a:buNone/>
            </a:pPr>
            <a:r>
              <a:rPr lang="en-US" sz="3100" i="1" dirty="0">
                <a:solidFill>
                  <a:srgbClr val="F47358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operaciones.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El crecimiento crea complejidad. Gestionar es convertir esa complejidad en decisiones, responsables y proyectos.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834640"/>
            <a:ext cx="3337560" cy="868680"/>
          </a:xfrm>
          <a:prstGeom prst="roundRect">
            <a:avLst>
              <a:gd name="adj" fmla="val 16842"/>
            </a:avLst>
          </a:prstGeom>
          <a:solidFill>
            <a:srgbClr val="FFFAF5"/>
          </a:solidFill>
          <a:ln w="12700">
            <a:solidFill>
              <a:srgbClr val="F47358">
                <a:alpha val="6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3127248"/>
            <a:ext cx="2971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470B24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PRIORIZAR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89120" y="2834640"/>
            <a:ext cx="3337560" cy="868680"/>
          </a:xfrm>
          <a:prstGeom prst="roundRect">
            <a:avLst>
              <a:gd name="adj" fmla="val 16842"/>
            </a:avLst>
          </a:prstGeom>
          <a:solidFill>
            <a:srgbClr val="FFFAF5"/>
          </a:solidFill>
          <a:ln w="12700">
            <a:solidFill>
              <a:srgbClr val="F47358">
                <a:alpha val="6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0" y="3127248"/>
            <a:ext cx="2971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470B24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CONECTAR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092440" y="2834640"/>
            <a:ext cx="3337560" cy="868680"/>
          </a:xfrm>
          <a:prstGeom prst="roundRect">
            <a:avLst>
              <a:gd name="adj" fmla="val 16842"/>
            </a:avLst>
          </a:prstGeom>
          <a:solidFill>
            <a:srgbClr val="FFFAF5"/>
          </a:solidFill>
          <a:ln w="12700">
            <a:solidFill>
              <a:srgbClr val="F4735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75320" y="3127248"/>
            <a:ext cx="2971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470B24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NEGOCIAR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" y="3977640"/>
            <a:ext cx="3337560" cy="868680"/>
          </a:xfrm>
          <a:prstGeom prst="roundRect">
            <a:avLst>
              <a:gd name="adj" fmla="val 16842"/>
            </a:avLst>
          </a:prstGeom>
          <a:solidFill>
            <a:srgbClr val="FFFAF5"/>
          </a:solidFill>
          <a:ln w="12700">
            <a:solidFill>
              <a:srgbClr val="F4735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270248"/>
            <a:ext cx="2971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470B24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ORGANIZAR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89120" y="3977640"/>
            <a:ext cx="3337560" cy="868680"/>
          </a:xfrm>
          <a:prstGeom prst="roundRect">
            <a:avLst>
              <a:gd name="adj" fmla="val 16842"/>
            </a:avLst>
          </a:prstGeom>
          <a:solidFill>
            <a:srgbClr val="FFFAF5"/>
          </a:solidFill>
          <a:ln w="12700">
            <a:solidFill>
              <a:srgbClr val="F4735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4270248"/>
            <a:ext cx="2971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470B24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DIRIGIR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92440" y="3977640"/>
            <a:ext cx="3337560" cy="868680"/>
          </a:xfrm>
          <a:prstGeom prst="roundRect">
            <a:avLst>
              <a:gd name="adj" fmla="val 16842"/>
            </a:avLst>
          </a:prstGeom>
          <a:solidFill>
            <a:srgbClr val="470B24"/>
          </a:solidFill>
          <a:ln w="12700">
            <a:solidFill>
              <a:srgbClr val="470B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75320" y="4270248"/>
            <a:ext cx="2971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CONVERTIR OPORTUNIDADES EN PROYECTOS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713232" y="5358384"/>
            <a:ext cx="10332720" cy="0"/>
          </a:xfrm>
          <a:prstGeom prst="line">
            <a:avLst/>
          </a:prstGeom>
          <a:noFill/>
          <a:ln w="12700">
            <a:solidFill>
              <a:srgbClr val="F4735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559552"/>
            <a:ext cx="9784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i="1" dirty="0">
                <a:solidFill>
                  <a:srgbClr val="470B24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“El creador no debería administrar personalmente todo lo que su crecimiento genera.”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B6B78"/>
                </a:solidFill>
                <a:latin typeface="Clear Sans"/>
                <a:ea typeface="Clear Sans"/>
                <a:cs typeface="Clear Sans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8686800" y="-960120"/>
            <a:ext cx="4114800" cy="4114800"/>
          </a:xfrm>
          <a:prstGeom prst="arc">
            <a:avLst/>
          </a:prstGeom>
          <a:solidFill>
            <a:srgbClr val="470B24">
              <a:alpha val="0"/>
            </a:srgbClr>
          </a:solidFill>
          <a:ln w="11430">
            <a:solidFill>
              <a:srgbClr val="C4D3F7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2600000">
            <a:off x="-914400" y="4389120"/>
            <a:ext cx="3749040" cy="3749040"/>
          </a:xfrm>
          <a:prstGeom prst="arc">
            <a:avLst/>
          </a:prstGeom>
          <a:solidFill>
            <a:srgbClr val="470B24">
              <a:alpha val="0"/>
            </a:srgbClr>
          </a:solidFill>
          <a:ln w="11430">
            <a:solidFill>
              <a:srgbClr val="F47358">
                <a:alpha val="12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5943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C4D3F7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11 · MONETIZACIÓN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94360" y="960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90000"/>
              </a:lnSpc>
              <a:buNone/>
            </a:pPr>
            <a:r>
              <a:rPr lang="en-US" sz="3100" dirty="0">
                <a:solidFill>
                  <a:srgbClr val="FFFAF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¿Dónde aparece el </a:t>
            </a:r>
            <a:pPr indent="0" marL="0">
              <a:lnSpc>
                <a:spcPct val="90000"/>
              </a:lnSpc>
              <a:buNone/>
            </a:pPr>
            <a:r>
              <a:rPr lang="en-US" sz="3100" i="1" dirty="0">
                <a:solidFill>
                  <a:srgbClr val="C4D3F7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negocio?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No es “cómo hacer plata siendo influencer”. Es cuántos negocios pueden existir alrededor de atención + confianza.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58368" y="2926080"/>
            <a:ext cx="2487168" cy="2240280"/>
          </a:xfrm>
          <a:prstGeom prst="roundRect">
            <a:avLst>
              <a:gd name="adj" fmla="val 6531"/>
            </a:avLst>
          </a:prstGeom>
          <a:solidFill>
            <a:srgbClr val="2A0615"/>
          </a:solidFill>
          <a:ln w="12700">
            <a:solidFill>
              <a:srgbClr val="C4D3F7">
                <a:alpha val="24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1868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ATENCIÓN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22960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Publicidad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Brand deals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Afiliados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474720" y="2926080"/>
            <a:ext cx="2487168" cy="2240280"/>
          </a:xfrm>
          <a:prstGeom prst="roundRect">
            <a:avLst>
              <a:gd name="adj" fmla="val 6531"/>
            </a:avLst>
          </a:prstGeom>
          <a:solidFill>
            <a:srgbClr val="2A0615"/>
          </a:solidFill>
          <a:ln w="12700">
            <a:solidFill>
              <a:srgbClr val="C4D3F7">
                <a:alpha val="24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39312" y="321868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CONOCIMIENTO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3931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Cursos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Servicios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Consultoría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Conferencias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91072" y="2926080"/>
            <a:ext cx="2487168" cy="2240280"/>
          </a:xfrm>
          <a:prstGeom prst="roundRect">
            <a:avLst>
              <a:gd name="adj" fmla="val 6531"/>
            </a:avLst>
          </a:prstGeom>
          <a:solidFill>
            <a:srgbClr val="2A0615"/>
          </a:solidFill>
          <a:ln w="12700">
            <a:solidFill>
              <a:srgbClr val="C4D3F7">
                <a:alpha val="24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55664" y="321868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COMUNIDAD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55664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Eventos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Experiencias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Membresías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107424" y="2926080"/>
            <a:ext cx="2487168" cy="2240280"/>
          </a:xfrm>
          <a:prstGeom prst="roundRect">
            <a:avLst>
              <a:gd name="adj" fmla="val 6531"/>
            </a:avLst>
          </a:prstGeom>
          <a:solidFill>
            <a:srgbClr val="F47358"/>
          </a:solidFill>
          <a:ln w="12700">
            <a:solidFill>
              <a:srgbClr val="F473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72016" y="321868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470B24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PROPIEDAD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272016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470B24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Productos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470B24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Marcas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470B24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Libros / IP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31520" y="5650992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C4D3F7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Cada nueva línea de negocio aumenta la necesidad de estrategia, comunidad, management y operaciones.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C4D3F7"/>
                </a:solidFill>
                <a:latin typeface="Clear Sans"/>
                <a:ea typeface="Clear Sans"/>
                <a:cs typeface="Clear Sans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943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12 · CASO APLICADO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94360" y="96012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90000"/>
              </a:lnSpc>
              <a:buNone/>
            </a:pPr>
            <a:r>
              <a:rPr lang="en-US" sz="3100" dirty="0">
                <a:solidFill>
                  <a:srgbClr val="3A1021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Daniel Bonifaz: lo que se ve vs. </a:t>
            </a:r>
            <a:pPr indent="0" marL="0">
              <a:lnSpc>
                <a:spcPct val="90000"/>
              </a:lnSpc>
              <a:buNone/>
            </a:pPr>
            <a:r>
              <a:rPr lang="en-US" sz="3100" i="1" dirty="0">
                <a:solidFill>
                  <a:srgbClr val="F47358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lo que hay detrás.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93852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Durante tres años trabajé detrás de su negocio. Mi trabajo nunca fue decirle solamente qué reel grabar.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852928"/>
            <a:ext cx="4892040" cy="2468880"/>
          </a:xfrm>
          <a:prstGeom prst="roundRect">
            <a:avLst>
              <a:gd name="adj" fmla="val 5926"/>
            </a:avLst>
          </a:prstGeom>
          <a:solidFill>
            <a:srgbClr val="F9E7E4"/>
          </a:solidFill>
          <a:ln w="12700">
            <a:solidFill>
              <a:srgbClr val="F47358">
                <a:alpha val="7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318211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LO QUE LA AUDIENCIA VE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50976" y="3611880"/>
            <a:ext cx="32918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Contenido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Voz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Comunidad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Productos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Eventos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46520" y="2852928"/>
            <a:ext cx="4983480" cy="2468880"/>
          </a:xfrm>
          <a:prstGeom prst="roundRect">
            <a:avLst>
              <a:gd name="adj" fmla="val 5926"/>
            </a:avLst>
          </a:prstGeom>
          <a:solidFill>
            <a:srgbClr val="470B24"/>
          </a:solidFill>
          <a:ln w="12700">
            <a:solidFill>
              <a:srgbClr val="470B24">
                <a:alpha val="65000"/>
              </a:srgbClr>
            </a:solidFill>
            <a:prstDash val="solid"/>
          </a:ln>
          <a:effectLst>
            <a:outerShdw sx="100000" sy="100000" kx="0" ky="0" algn="bl" rotWithShape="0" blurRad="1.6918808560254722e+33" dist="8.121028108922266e+32" dir="7.558272e+39">
              <a:srgbClr val="000000">
                <a:alpha val="1.6e+39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720840" y="318211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C4D3F7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LO QUE EXISTE DETRÁS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720840" y="3630168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Posicionamiento · estrategia · dirección editorial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Equipo · oferta · alianzas · procesos · decisiones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571500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470B24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El contenido genera oportunidades. Pero las oportunidades por sí solas no construyen una empresa.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B6B78"/>
                </a:solidFill>
                <a:latin typeface="Clear Sans"/>
                <a:ea typeface="Clear Sans"/>
                <a:cs typeface="Clear Sans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8686800" y="-960120"/>
            <a:ext cx="4114800" cy="4114800"/>
          </a:xfrm>
          <a:prstGeom prst="arc">
            <a:avLst/>
          </a:prstGeom>
          <a:solidFill>
            <a:srgbClr val="FFFAF5">
              <a:alpha val="0"/>
            </a:srgbClr>
          </a:solidFill>
          <a:ln w="11430">
            <a:solidFill>
              <a:srgbClr val="470B24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2600000">
            <a:off x="-914400" y="4389120"/>
            <a:ext cx="3749040" cy="3749040"/>
          </a:xfrm>
          <a:prstGeom prst="arc">
            <a:avLst/>
          </a:prstGeom>
          <a:solidFill>
            <a:srgbClr val="FFFAF5">
              <a:alpha val="0"/>
            </a:srgbClr>
          </a:solidFill>
          <a:ln w="11430">
            <a:solidFill>
              <a:srgbClr val="C4D3F7">
                <a:alpha val="12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5943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13 · TU ENTRADA A LA INDUSTRIA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94360" y="96012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90000"/>
              </a:lnSpc>
              <a:buNone/>
            </a:pPr>
            <a:r>
              <a:rPr lang="en-US" sz="3100" dirty="0">
                <a:solidFill>
                  <a:srgbClr val="3A1021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¿Dónde podrías entrar </a:t>
            </a:r>
            <a:pPr indent="0" marL="0">
              <a:lnSpc>
                <a:spcPct val="90000"/>
              </a:lnSpc>
              <a:buNone/>
            </a:pPr>
            <a:r>
              <a:rPr lang="en-US" sz="3100" i="1" dirty="0">
                <a:solidFill>
                  <a:srgbClr val="F47358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tú?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No tienes que querer ser creador para que esta industria sea para ti.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5074920" cy="1143000"/>
          </a:xfrm>
          <a:prstGeom prst="roundRect">
            <a:avLst>
              <a:gd name="adj" fmla="val 12800"/>
            </a:avLst>
          </a:prstGeom>
          <a:solidFill>
            <a:srgbClr val="FFFAF5"/>
          </a:solidFill>
          <a:ln w="12700">
            <a:solidFill>
              <a:srgbClr val="F47358">
                <a:alpha val="5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3008376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ESTRATEGIA DE CONTENIDO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86968" y="336499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pensar · investigar · posicionar · comunicar · crecer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9360" y="2788920"/>
            <a:ext cx="5074920" cy="1143000"/>
          </a:xfrm>
          <a:prstGeom prst="roundRect">
            <a:avLst>
              <a:gd name="adj" fmla="val 12800"/>
            </a:avLst>
          </a:prstGeom>
          <a:solidFill>
            <a:srgbClr val="F9E7E4"/>
          </a:solidFill>
          <a:ln w="12700">
            <a:solidFill>
              <a:srgbClr val="F47358">
                <a:alpha val="5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0528" y="3008376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COMUNIDAD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10528" y="336499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escuchar · conversar · entender personas · conectar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85800" y="4206240"/>
            <a:ext cx="5074920" cy="1143000"/>
          </a:xfrm>
          <a:prstGeom prst="roundRect">
            <a:avLst>
              <a:gd name="adj" fmla="val 12800"/>
            </a:avLst>
          </a:prstGeom>
          <a:solidFill>
            <a:srgbClr val="470B24"/>
          </a:solidFill>
          <a:ln w="12700">
            <a:solidFill>
              <a:srgbClr val="470B24"/>
            </a:solidFill>
            <a:prstDash val="solid"/>
          </a:ln>
          <a:effectLst>
            <a:outerShdw sx="100000" sy="100000" kx="0" ky="0" algn="bl" rotWithShape="0" blurRad="2.1486886871523496e+37" dist="1.0313705698331278e+37" dir="4.5349632000000006e+44">
              <a:srgbClr val="000000">
                <a:alpha val="1.6e+44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86968" y="4425696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C4D3F7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MANAGEMENT &amp; OPERACIONES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86968" y="478231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priorizar · negociar · organizar · coordinar · dirigir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0" y="4206240"/>
            <a:ext cx="5074920" cy="1143000"/>
          </a:xfrm>
          <a:prstGeom prst="roundRect">
            <a:avLst>
              <a:gd name="adj" fmla="val 12800"/>
            </a:avLst>
          </a:prstGeom>
          <a:solidFill>
            <a:srgbClr val="FFFAF5"/>
          </a:solidFill>
          <a:ln w="12700">
            <a:solidFill>
              <a:srgbClr val="F47358">
                <a:alpha val="55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10528" y="4425696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47358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FRENTE AL CONTENIDO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510528" y="478231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3A1021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cámara · edición · producción · dirección creativa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31520" y="572414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470B24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Empieza identificando qué problemas disfrutas resolver. Esa puede ser una mejor brújula que intentar adivinar tu cargo.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B6B78"/>
                </a:solidFill>
                <a:latin typeface="Clear Sans"/>
                <a:ea typeface="Clear Sans"/>
                <a:cs typeface="Clear Sans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A06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8686800" y="-960120"/>
            <a:ext cx="4114800" cy="4114800"/>
          </a:xfrm>
          <a:prstGeom prst="arc">
            <a:avLst/>
          </a:prstGeom>
          <a:solidFill>
            <a:srgbClr val="470B24">
              <a:alpha val="0"/>
            </a:srgbClr>
          </a:solidFill>
          <a:ln w="11430">
            <a:solidFill>
              <a:srgbClr val="C4D3F7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2600000">
            <a:off x="-914400" y="4389120"/>
            <a:ext cx="3749040" cy="3749040"/>
          </a:xfrm>
          <a:prstGeom prst="arc">
            <a:avLst/>
          </a:prstGeom>
          <a:solidFill>
            <a:srgbClr val="470B24">
              <a:alpha val="0"/>
            </a:srgbClr>
          </a:solidFill>
          <a:ln w="11430">
            <a:solidFill>
              <a:srgbClr val="F47358">
                <a:alpha val="12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2743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C4D3F7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KARLA RODRÍGUEZ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064240" y="27432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85800" y="105156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90000"/>
              </a:lnSpc>
              <a:buNone/>
            </a:pPr>
            <a:r>
              <a:rPr lang="en-US" sz="2900" dirty="0">
                <a:solidFill>
                  <a:srgbClr val="FFFAF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Creadores van a seguir </a:t>
            </a:r>
            <a:pPr indent="0" marL="0">
              <a:lnSpc>
                <a:spcPct val="90000"/>
              </a:lnSpc>
              <a:buNone/>
            </a:pPr>
            <a:r>
              <a:rPr lang="en-US" sz="2900" i="1" dirty="0">
                <a:solidFill>
                  <a:srgbClr val="C4D3F7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apareciendo.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685800" y="187452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90000"/>
              </a:lnSpc>
              <a:buNone/>
            </a:pPr>
            <a:r>
              <a:rPr lang="en-US" sz="2900" dirty="0">
                <a:solidFill>
                  <a:srgbClr val="FFFAF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Audiencias van a seguir </a:t>
            </a:r>
            <a:pPr indent="0" marL="0">
              <a:lnSpc>
                <a:spcPct val="90000"/>
              </a:lnSpc>
              <a:buNone/>
            </a:pPr>
            <a:r>
              <a:rPr lang="en-US" sz="2900" i="1" dirty="0">
                <a:solidFill>
                  <a:srgbClr val="C4D3F7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creciendo.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685800" y="269748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90000"/>
              </a:lnSpc>
              <a:buNone/>
            </a:pPr>
            <a:r>
              <a:rPr lang="en-US" sz="2900" dirty="0">
                <a:solidFill>
                  <a:srgbClr val="FFFAF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Nuevos productos van a seguir </a:t>
            </a:r>
            <a:pPr indent="0" marL="0">
              <a:lnSpc>
                <a:spcPct val="90000"/>
              </a:lnSpc>
              <a:buNone/>
            </a:pPr>
            <a:r>
              <a:rPr lang="en-US" sz="2900" i="1" dirty="0">
                <a:solidFill>
                  <a:srgbClr val="C4D3F7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naciendo.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3749040"/>
            <a:ext cx="6309360" cy="0"/>
          </a:xfrm>
          <a:prstGeom prst="line">
            <a:avLst/>
          </a:prstGeom>
          <a:noFill/>
          <a:ln w="15240">
            <a:solidFill>
              <a:srgbClr val="F473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402336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i="1" dirty="0">
                <a:solidFill>
                  <a:srgbClr val="F47358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El problema es que alguien tiene que saber administrar todo eso.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731520" y="516636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Tu carrera puede estar frente al contenido o construyendo todo lo que existe detrás.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5897880"/>
            <a:ext cx="1828800" cy="329184"/>
          </a:xfrm>
          <a:prstGeom prst="roundRect">
            <a:avLst>
              <a:gd name="adj" fmla="val 33333"/>
            </a:avLst>
          </a:prstGeom>
          <a:solidFill>
            <a:srgbClr val="470B24"/>
          </a:solidFill>
          <a:ln w="12700">
            <a:solidFill>
              <a:srgbClr val="470B24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5952744"/>
            <a:ext cx="1682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4D3F7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@karlarodriguez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788920" y="5897880"/>
            <a:ext cx="2103120" cy="329184"/>
          </a:xfrm>
          <a:prstGeom prst="roundRect">
            <a:avLst>
              <a:gd name="adj" fmla="val 33333"/>
            </a:avLst>
          </a:prstGeom>
          <a:solidFill>
            <a:srgbClr val="470B24"/>
          </a:solidFill>
          <a:ln w="12700">
            <a:solidFill>
              <a:srgbClr val="470B24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62072" y="5952744"/>
            <a:ext cx="1956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AF5"/>
                </a:solidFill>
                <a:latin typeface="Clear Sans" pitchFamily="34" charset="0"/>
                <a:ea typeface="Clear Sans" pitchFamily="34" charset="-122"/>
                <a:cs typeface="Clear Sans" pitchFamily="34" charset="-120"/>
              </a:rPr>
              <a:t>karla@matizuno.com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692640" y="425196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i="1" dirty="0">
                <a:solidFill>
                  <a:srgbClr val="FFFAF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KR</a:t>
            </a:r>
            <a:endParaRPr lang="en-US" sz="4800" dirty="0"/>
          </a:p>
        </p:txBody>
      </p:sp>
      <p:sp>
        <p:nvSpPr>
          <p:cNvPr id="17" name="Shape 15"/>
          <p:cNvSpPr/>
          <p:nvPr/>
        </p:nvSpPr>
        <p:spPr>
          <a:xfrm>
            <a:off x="9464040" y="4041648"/>
            <a:ext cx="1645920" cy="1554480"/>
          </a:xfrm>
          <a:prstGeom prst="ellipse">
            <a:avLst/>
          </a:prstGeom>
          <a:solidFill>
            <a:srgbClr val="2A0615">
              <a:alpha val="0"/>
            </a:srgbClr>
          </a:solidFill>
          <a:ln w="11430">
            <a:solidFill>
              <a:srgbClr val="C4D3F7">
                <a:alpha val="6500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EB 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lear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Matiz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¿Puedo construir una carrera en la industria de creación de contenido?</dc:title>
  <dc:subject>Charla USIL × Global Leaders Club</dc:subject>
  <dc:creator>Matiz / Karla Rodríguez</dc:creator>
  <cp:lastModifiedBy>Matiz / Karla Rodríguez</cp:lastModifiedBy>
  <cp:revision>1</cp:revision>
  <dcterms:created xsi:type="dcterms:W3CDTF">2026-10-15T23:28:25Z</dcterms:created>
  <dcterms:modified xsi:type="dcterms:W3CDTF">2026-10-15T23:28:25Z</dcterms:modified>
</cp:coreProperties>
</file>